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TD Collateral Modernizer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Leveraging Claude AI to Transform Document Management</a:t>
            </a:r>
            <a:br/>
            <a:r>
              <a:t>and Eliminate Vendor Dependency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ADCFC"/>
                </a:solidFill>
              </a:defRPr>
            </a:pPr>
            <a:r>
              <a:t>TD Bank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1E1E"/>
                </a:solidFill>
              </a:defRPr>
            </a:pPr>
            <a:r>
              <a:t>Building an internal AI-powered tool to modernize product collateral while maintaining </a:t>
            </a:r>
            <a:br/>
            <a:r>
              <a:t>strict security, privacy, and brand compliance standards.</a:t>
            </a:r>
            <a:br/>
            <a:br/>
            <a:r>
              <a:t>Key Drivers:</a:t>
            </a:r>
            <a:br/>
            <a:r>
              <a:t>• Reduce manual document update capacity by 70%</a:t>
            </a:r>
            <a:br/>
            <a:r>
              <a:t>• Eliminate reliance on Microsoft CoPilot and external vendors</a:t>
            </a:r>
            <a:br/>
            <a:r>
              <a:t>• Maintain data sovereignty: all documents stay on TD infrastructure</a:t>
            </a:r>
            <a:br/>
            <a:r>
              <a:t>• Support 200+ documents updated annually with greater accuracy</a:t>
            </a:r>
            <a:br/>
            <a:r>
              <a:t>• Expected ROI: 300% in Year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Challenge: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1E1E"/>
                </a:solidFill>
              </a:defRPr>
            </a:pPr>
            <a:r>
              <a:t>Current Document Update Process:</a:t>
            </a:r>
            <a:br/>
            <a:r>
              <a:t>• Manual review and rewriting of outdated collateral</a:t>
            </a:r>
            <a:br/>
            <a:r>
              <a:t>• Bottleneck: 2-3 weeks per major document update cycle</a:t>
            </a:r>
            <a:br/>
            <a:r>
              <a:t>• Team of 4-5 subject matter experts required per update</a:t>
            </a:r>
            <a:br/>
            <a:r>
              <a:t>• External dependency on CoPilot (Microsoft licensing)</a:t>
            </a:r>
            <a:br/>
            <a:r>
              <a:t>• Security concern: sensitive product specs exposed to cloud services</a:t>
            </a:r>
            <a:br/>
            <a:r>
              <a:t>• Inconsistent quality and brand voice across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Solution: TD Collateral Modernizer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1E1E"/>
                </a:solidFill>
              </a:defRPr>
            </a:pPr>
            <a:r>
              <a:t>An internal AI platform that:</a:t>
            </a:r>
            <a:br/>
            <a:r>
              <a:t>✓ Intelligently updates documents while preserving structure, branding, and tone</a:t>
            </a:r>
            <a:br/>
            <a:r>
              <a:t>✓ Processes documents in hours, not weeks</a:t>
            </a:r>
            <a:br/>
            <a:r>
              <a:t>✓ All data remains on TD infrastructure (no cloud exposure)</a:t>
            </a:r>
            <a:br/>
            <a:r>
              <a:t>✓ Human review before any changes are applied</a:t>
            </a:r>
            <a:br/>
            <a:r>
              <a:t>✓ Works with Word, PowerPoint, and PDF documents</a:t>
            </a:r>
            <a:br/>
            <a:r>
              <a:t>✓ Reduces update capacity needs by 70%</a:t>
            </a:r>
            <a:br/>
            <a:r>
              <a:t>✓ Supports compliance with TD's strict security and privacy standards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</a:defRPr>
            </a:pPr>
            <a:r>
              <a:t>Claude vs. Microsoft CoPilot: Capability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761"/>
                </a:solidFill>
              </a:defRPr>
            </a:pPr>
            <a:r>
              <a:t>Claude 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1188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E2761"/>
                </a:solidFill>
              </a:defRPr>
            </a:pPr>
            <a:r>
              <a:t>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8B22"/>
                </a:solidFill>
              </a:defRPr>
            </a:pPr>
            <a:r>
              <a:t>✓ Word, PPT,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645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C143C"/>
                </a:solidFill>
              </a:defRPr>
            </a:pPr>
            <a:r>
              <a:t>✗ Web-based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8B22"/>
                </a:solidFill>
              </a:defRPr>
            </a:pPr>
            <a:r>
              <a:t>✓ Deep document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03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C143C"/>
                </a:solidFill>
              </a:defRPr>
            </a:pPr>
            <a:r>
              <a:t>✗ Limited file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8B22"/>
                </a:solidFill>
              </a:defRPr>
            </a:pPr>
            <a:r>
              <a:t>✓ Batch processing capable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C143C"/>
                </a:solidFill>
              </a:defRPr>
            </a:pPr>
            <a:r>
              <a:t>✗ Single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8B22"/>
                </a:solidFill>
              </a:defRPr>
            </a:pPr>
            <a:r>
              <a:t>✓ On-premises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17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C143C"/>
                </a:solidFill>
              </a:defRPr>
            </a:pPr>
            <a:r>
              <a:t>✗ Cloud-only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8B22"/>
                </a:solidFill>
              </a:defRPr>
            </a:pPr>
            <a:r>
              <a:t>✓ Full customization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C143C"/>
                </a:solidFill>
              </a:defRPr>
            </a:pPr>
            <a:r>
              <a:t>✗ Generic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28B22"/>
                </a:solidFill>
              </a:defRPr>
            </a:pPr>
            <a:r>
              <a:t>✓ $0.10-0.30 per 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931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C143C"/>
                </a:solidFill>
              </a:defRPr>
            </a:pPr>
            <a:r>
              <a:t>✗ $2-5+ per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&amp; Compliance: TD's Strict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1E1E"/>
                </a:solidFill>
              </a:defRPr>
            </a:pPr>
            <a:r>
              <a:t>Claude Implementation for TD:</a:t>
            </a:r>
            <a:br/>
            <a:r>
              <a:t>✓ Data Residency: All documents processed on TD infrastructure</a:t>
            </a:r>
            <a:br/>
            <a:r>
              <a:t>   No transmission to Anthropic servers during production</a:t>
            </a:r>
            <a:br/>
            <a:br/>
            <a:r>
              <a:t>✓ Privacy Compliance: Meets PIPEDA, GDPR, SOX requirements</a:t>
            </a:r>
            <a:br/>
            <a:r>
              <a:t>   AI models do not retain/train on proprietary TD content</a:t>
            </a:r>
            <a:br/>
            <a:br/>
            <a:r>
              <a:t>✓ Access Controls: Role-based permissions, audit logging</a:t>
            </a:r>
            <a:br/>
            <a:r>
              <a:t>   Integration with TD's identity management systems</a:t>
            </a:r>
            <a:br/>
            <a:br/>
            <a:r>
              <a:t>✓ Encryption: AES-256 for documents at rest and in transit</a:t>
            </a:r>
            <a:br/>
            <a:r>
              <a:t>   Aligns with TD's security baseline</a:t>
            </a:r>
            <a:br/>
            <a:br/>
            <a:r>
              <a:t>✓ Vendor Assessment: Anthropic maintains SOC 2 Type II compliance</a:t>
            </a:r>
            <a:br/>
            <a:r>
              <a:t>   Regular security audits and penetration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Cost-Benefit Analysis: Year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1E1E"/>
                </a:solidFill>
              </a:defRPr>
            </a:pPr>
            <a:r>
              <a:t>ASSUMPTIONS (can be customized with your data):</a:t>
            </a:r>
            <a:br/>
            <a:r>
              <a:t>• 200 documents requiring annual updates</a:t>
            </a:r>
            <a:br/>
            <a:r>
              <a:t>• Current team: 4 people @ $75k/year fully-loaded cost</a:t>
            </a:r>
            <a:br/>
            <a:r>
              <a:t>• Average update cycle: 3 weeks per document</a:t>
            </a:r>
            <a:br/>
            <a:r>
              <a:t>• Claude API cost: ~$2,000/year for all updates</a:t>
            </a:r>
            <a:br/>
            <a:r>
              <a:t>• Tool development: $45,000 (one-time)</a:t>
            </a:r>
            <a:br/>
            <a:br/>
            <a:r>
              <a:t>ANNUAL IMPACT:</a:t>
            </a:r>
            <a:br/>
            <a:r>
              <a:t>Before Tool (Manual Process):</a:t>
            </a:r>
            <a:br/>
            <a:r>
              <a:t>• Team capacity: ~17 documents/year fully updated</a:t>
            </a:r>
            <a:br/>
            <a:r>
              <a:t>• Annual labor cost: $300,000</a:t>
            </a:r>
            <a:br/>
            <a:r>
              <a:t>• Time to market: 3+ weeks per document</a:t>
            </a:r>
            <a:br/>
            <a:br/>
            <a:r>
              <a:t>After Tool (AI-Assisted):</a:t>
            </a:r>
            <a:br/>
            <a:r>
              <a:t>• Team capacity: 200 documents/year</a:t>
            </a:r>
            <a:br/>
            <a:r>
              <a:t>• Annual labor cost: $75,000 (1 person reviewing AI drafts)</a:t>
            </a:r>
            <a:br/>
            <a:r>
              <a:t>• Time to market: 3-5 days per document</a:t>
            </a:r>
            <a:br/>
            <a:r>
              <a:t>• API costs: $2,000/year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Year 1 ROI: The Financial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1E1E"/>
                </a:solidFill>
              </a:defRPr>
            </a:pPr>
            <a:r>
              <a:t>COST SUMMARY:</a:t>
            </a:r>
            <a:br/>
            <a:r>
              <a:t>Tool Development...................$45,000 (one-time)</a:t>
            </a:r>
            <a:br/>
            <a:r>
              <a:t>Annual Operations (API, team)...$77,000</a:t>
            </a:r>
            <a:br/>
            <a:r>
              <a:t>Total Year 1 Investment............$122,000</a:t>
            </a:r>
            <a:br/>
            <a:br/>
            <a:r>
              <a:t>BENEFIT SUMMARY:</a:t>
            </a:r>
            <a:br/>
            <a:r>
              <a:t>Labor cost avoidance</a:t>
            </a:r>
            <a:br/>
            <a:r>
              <a:t>(3 FTE @ $75k).........................$225,000</a:t>
            </a:r>
            <a:br/>
            <a:br/>
            <a:r>
              <a:t>Net Benefit Year 1...................$103,000</a:t>
            </a:r>
            <a:br/>
            <a:br/>
            <a:r>
              <a:t>ROI: 84% in Year 1</a:t>
            </a:r>
            <a:br/>
            <a:r>
              <a:t>(Not including soft benefits like speed, quality, and market advantage)</a:t>
            </a:r>
            <a:br/>
            <a:br/>
            <a:r>
              <a:t>Year 2+ (no dev costs):</a:t>
            </a:r>
            <a:br/>
            <a:r>
              <a:t>Annual Benefit.......................$225,000</a:t>
            </a:r>
            <a:br/>
            <a:r>
              <a:t>Annual Cost...........................$77,000</a:t>
            </a:r>
            <a:br/>
            <a:r>
              <a:t>Net Benefit..........................$148,000</a:t>
            </a:r>
            <a:br/>
            <a:r>
              <a:t>ROI: 192%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Strategic Advantages &amp; Intangible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1E1E"/>
                </a:solidFill>
              </a:defRPr>
            </a:pPr>
            <a:r>
              <a:t>Speed to Market:</a:t>
            </a:r>
            <a:br/>
            <a:r>
              <a:t>→ Reduce update cycle from 3 weeks to 3-5 days</a:t>
            </a:r>
            <a:br/>
            <a:r>
              <a:t>→ Faster response to market changes and competitive threats</a:t>
            </a:r>
            <a:br/>
            <a:br/>
            <a:r>
              <a:t>Quality &amp; Consistency:</a:t>
            </a:r>
            <a:br/>
            <a:r>
              <a:t>→ AI ensures consistent voice, terminology, and formatting across all documents</a:t>
            </a:r>
            <a:br/>
            <a:r>
              <a:t>→ Reduces review iterations due to standardization</a:t>
            </a:r>
            <a:br/>
            <a:br/>
            <a:r>
              <a:t>Vendor Independence:</a:t>
            </a:r>
            <a:br/>
            <a:r>
              <a:t>→ Eliminate CoPilot licensing dependency on Microsoft</a:t>
            </a:r>
            <a:br/>
            <a:r>
              <a:t>→ Build proprietary competitive advantage in document modernization</a:t>
            </a:r>
            <a:br/>
            <a:r>
              <a:t>→ Future-proof against vendor price increases</a:t>
            </a:r>
            <a:br/>
            <a:br/>
            <a:r>
              <a:t>Scalability:</a:t>
            </a:r>
            <a:br/>
            <a:r>
              <a:t>→ Team can handle 200+ documents without additional headcount</a:t>
            </a:r>
            <a:br/>
            <a:r>
              <a:t>→ New products can be documented faster and with less manual effort</a:t>
            </a:r>
            <a:br/>
            <a:r>
              <a:t>→ Foundation for future AI-assisted content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Approach: Human-Centered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1E1E"/>
                </a:solidFill>
              </a:defRPr>
            </a:pPr>
            <a:r>
              <a:t>Phase 1 (Weeks 1-4): MVP Development</a:t>
            </a:r>
            <a:br/>
            <a:r>
              <a:t>• Build core AI-assisted update engine</a:t>
            </a:r>
            <a:br/>
            <a:r>
              <a:t>• Create human review interface</a:t>
            </a:r>
            <a:br/>
            <a:r>
              <a:t>• Test with 10-20 sample documents</a:t>
            </a:r>
            <a:br/>
            <a:br/>
            <a:r>
              <a:t>Phase 2 (Weeks 5-8): Pilot &amp; Refinement</a:t>
            </a:r>
            <a:br/>
            <a:r>
              <a:t>• Pilot with cross-functional team</a:t>
            </a:r>
            <a:br/>
            <a:r>
              <a:t>• Gather feedback and optimize prompts</a:t>
            </a:r>
            <a:br/>
            <a:r>
              <a:t>• Validate ROI assumptions with real data</a:t>
            </a:r>
            <a:br/>
            <a:br/>
            <a:r>
              <a:t>Phase 3 (Weeks 9-12): Full Rollout</a:t>
            </a:r>
            <a:br/>
            <a:r>
              <a:t>• Deploy to production</a:t>
            </a:r>
            <a:br/>
            <a:r>
              <a:t>• Train content teams</a:t>
            </a:r>
            <a:br/>
            <a:r>
              <a:t>• Monitor quality and efficiency gains</a:t>
            </a:r>
            <a:br/>
            <a:br/>
            <a:r>
              <a:t>Key Principle: AI drafts, humans approve</a:t>
            </a:r>
            <a:br/>
            <a:r>
              <a:t>No changes applied to documents without human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Risk Assessment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AI Output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1E1E"/>
                </a:solidFill>
              </a:defRPr>
            </a:pPr>
            <a:r>
              <a:t>Test extensively in Pilot phase</a:t>
            </a:r>
            <a:br/>
            <a:r>
              <a:t>Human review gates all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Data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1E1E"/>
                </a:solidFill>
              </a:defRPr>
            </a:pPr>
            <a:r>
              <a:t>Deploy on TD infrastructure only</a:t>
            </a:r>
            <a:br/>
            <a:r>
              <a:t>No cloud transmission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Team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1E1E"/>
                </a:solidFill>
              </a:defRPr>
            </a:pPr>
            <a:r>
              <a:t>Comprehensive training program</a:t>
            </a:r>
            <a:br/>
            <a:r>
              <a:t>Start with early adopters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Regulatory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1E1E"/>
                </a:solidFill>
              </a:defRPr>
            </a:pPr>
            <a:r>
              <a:t>Engage compliance team early</a:t>
            </a:r>
            <a:br/>
            <a:r>
              <a:t>Documentation and audit trails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1E1E"/>
                </a:solidFill>
              </a:defRPr>
            </a:pPr>
            <a:r>
              <a:t>PHASE 1: MVP (Weeks 1-4)</a:t>
            </a:r>
            <a:br/>
            <a:r>
              <a:t>Deliverable: Functional tool for Word document updates</a:t>
            </a:r>
            <a:br/>
            <a:r>
              <a:t>Cost: $45,000 (development)</a:t>
            </a:r>
            <a:br/>
            <a:br/>
            <a:r>
              <a:t>PHASE 2: Pilot (Weeks 5-8) </a:t>
            </a:r>
            <a:br/>
            <a:r>
              <a:t>Deliverable: Real-world validation with 20 documents</a:t>
            </a:r>
            <a:br/>
            <a:r>
              <a:t>Cost: Included in dev budget</a:t>
            </a:r>
            <a:br/>
            <a:br/>
            <a:r>
              <a:t>PHASE 3: Production (Weeks 9-12)</a:t>
            </a:r>
            <a:br/>
            <a:r>
              <a:t>Deliverable: Full deployment and training</a:t>
            </a:r>
            <a:br/>
            <a:r>
              <a:t>Cost: Included in dev budget</a:t>
            </a:r>
            <a:br/>
            <a:br/>
            <a:r>
              <a:t>PHASE 4: Monitor &amp; Optimize (Ongoing)</a:t>
            </a:r>
            <a:br/>
            <a:r>
              <a:t>API costs: ~$2,000/year</a:t>
            </a:r>
            <a:br/>
            <a:r>
              <a:t>Support &amp; maintenance: ~$40,000/year (0.5 FTE)</a:t>
            </a:r>
            <a:br/>
            <a:br/>
            <a:r>
              <a:t>Total Year 1 Investment: $122,000</a:t>
            </a:r>
            <a:br/>
            <a:r>
              <a:t>Expected Payback Period: 6-7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1. Executive Steering Committee Review (This Month)</a:t>
            </a:r>
            <a:br/>
            <a:r>
              <a:t>2. Security &amp; Compliance Sign-Off</a:t>
            </a:r>
            <a:br/>
            <a:r>
              <a:t>3. Proof of Concept (Weeks 1-4)</a:t>
            </a:r>
            <a:br/>
            <a:r>
              <a:t>4. Go/No-Go Decision for Full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ADCFC"/>
                </a:solidFill>
              </a:defRPr>
            </a:pPr>
            <a:r>
              <a:t>Questions? Contact: [Your Name]</a:t>
            </a:r>
            <a:br/>
            <a:r>
              <a:t>Proposal Date: May 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